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84cd0583ee41c0" /><Relationship Type="http://schemas.openxmlformats.org/officeDocument/2006/relationships/extended-properties" Target="/docProps/app.xml" Id="Rb5f494319ebf4e67" /><Relationship Type="http://schemas.openxmlformats.org/officeDocument/2006/relationships/officeDocument" Target="/ppt/presentation.xml" Id="R78d91c0c722041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db8b7a16494432"/>
  </p:sldMasterIdLst>
  <p:notesMasterIdLst>
    <p:notesMasterId xmlns:r="http://schemas.openxmlformats.org/officeDocument/2006/relationships" r:id="R0e9d0350cd0e4296"/>
  </p:notesMasterIdLst>
  <p:sldIdLst>
    <p:sldId xmlns:r="http://schemas.openxmlformats.org/officeDocument/2006/relationships" id="256" r:id="R2b21503e9ead430a"/>
    <p:sldId xmlns:r="http://schemas.openxmlformats.org/officeDocument/2006/relationships" id="257" r:id="Rbdcc9e4b34924eee"/>
    <p:sldId xmlns:r="http://schemas.openxmlformats.org/officeDocument/2006/relationships" id="258" r:id="Rbbe65ff2514e41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3cc94930e6496e" /><Relationship Type="http://schemas.openxmlformats.org/officeDocument/2006/relationships/slideMaster" Target="/ppt/slideMasters/slideMaster1.xml" Id="Rbcdb8b7a16494432" /><Relationship Type="http://schemas.openxmlformats.org/officeDocument/2006/relationships/notesMaster" Target="/ppt/notesMasters/notesMaster1.xml" Id="R0e9d0350cd0e4296" /><Relationship Type="http://schemas.openxmlformats.org/officeDocument/2006/relationships/presProps" Target="/ppt/presProps.xml" Id="R59b6c51694b744bd" /><Relationship Type="http://schemas.openxmlformats.org/officeDocument/2006/relationships/tableStyles" Target="/ppt/tableStyles.xml" Id="R8b5f8e307986479e" /><Relationship Type="http://schemas.openxmlformats.org/officeDocument/2006/relationships/slide" Target="/ppt/slides/slide1.xml" Id="R2b21503e9ead430a" /><Relationship Type="http://schemas.openxmlformats.org/officeDocument/2006/relationships/slide" Target="/ppt/slides/slide2.xml" Id="Rbdcc9e4b34924eee" /><Relationship Type="http://schemas.openxmlformats.org/officeDocument/2006/relationships/slide" Target="/ppt/slides/slide3.xml" Id="Rbbe65ff2514e41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71602246fb49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f7c3268dd24c84" /><Relationship Type="http://schemas.openxmlformats.org/officeDocument/2006/relationships/notesMaster" Target="/ppt/notesMasters/notesMaster1.xml" Id="R5dc64f8eb2c145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8eff745a8d4e3f" /><Relationship Type="http://schemas.openxmlformats.org/officeDocument/2006/relationships/notesMaster" Target="/ppt/notesMasters/notesMaster1.xml" Id="R5356b4af543848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b99998c5a24527" /><Relationship Type="http://schemas.openxmlformats.org/officeDocument/2006/relationships/notesMaster" Target="/ppt/notesMasters/notesMaster1.xml" Id="Rebdfbb7b0c0249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b540eea1447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51ce3dbccb4732" /><Relationship Type="http://schemas.openxmlformats.org/officeDocument/2006/relationships/slideLayout" Target="/ppt/slideLayouts/slideLayout1.xml" Id="R2556de14089741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56de14089741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58675af604f69" /><Relationship Type="http://schemas.openxmlformats.org/officeDocument/2006/relationships/notesSlide" Target="/ppt/notesSlides/notesSlide1.xml" Id="Ra2c675efe71242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0aea6a39f4754" /><Relationship Type="http://schemas.openxmlformats.org/officeDocument/2006/relationships/notesSlide" Target="/ppt/notesSlides/notesSlide2.xml" Id="R3fd2f28e96964a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e985f189b4716" /><Relationship Type="http://schemas.openxmlformats.org/officeDocument/2006/relationships/notesSlide" Target="/ppt/notesSlides/notesSlide3.xml" Id="R4ae5b7f3efb047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quiet-top-band">
            <a:extLst xmlns:a="http://schemas.openxmlformats.org/drawingml/2006/main">
              <a:ext uri="{FF2B5EF4-FFF2-40B4-BE49-F238E27FC236}">
                <a16:creationId xmlns:a16="http://schemas.microsoft.com/office/drawing/2014/main" id="{91573087-E370-4F9F-9475-5D79A140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2"/>
          </a:solidFill>
          <a:ln xmlns:a="http://schemas.openxmlformats.org/drawingml/2006/main" w="0">
            <a:solidFill>
              <a:srgbClr val="EEF4F2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C010259-3047-4417-8293-DAEB1E1C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99A9A"/>
                </a:solidFill>
              </a:defRPr>
            </a:pPr>
            <a:r>
              <a:rPr sz="975" b="1">
                <a:solidFill>
                  <a:srgbClr val="099A9A"/>
                </a:solidFill>
              </a:rPr>
              <a:t>WHY WE USED AN LLM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EA4E4A89-45A5-460A-B1D1-582281AB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715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32033"/>
                </a:solidFill>
              </a:defRPr>
            </a:pPr>
            <a:r>
              <a:rPr sz="4050" b="1">
                <a:solidFill>
                  <a:srgbClr val="132033"/>
                </a:solidFill>
              </a:rPr>
              <a:t>The roadmap became adaptive instead of static</a:t>
            </a:r>
          </a:p>
        </p:txBody>
      </p:sp>
      <p:sp>
        <p:nvSpPr>
          <p:cNvPr id="4" name="lede">
            <a:extLst xmlns:a="http://schemas.openxmlformats.org/drawingml/2006/main">
              <a:ext uri="{FF2B5EF4-FFF2-40B4-BE49-F238E27FC236}">
                <a16:creationId xmlns:a16="http://schemas.microsoft.com/office/drawing/2014/main" id="{E2653A33-B2D4-4A45-A3B8-B56B02C6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174"/>
                </a:solidFill>
              </a:defRPr>
            </a:pPr>
            <a:r>
              <a:rPr sz="1650">
                <a:solidFill>
                  <a:srgbClr val="536174"/>
                </a:solidFill>
              </a:rPr>
              <a:t>A fixed checklist could show the same next step to every student. The LLM used each student's profile, quiz answers, and progress to decide what mattered next.</a:t>
            </a:r>
          </a:p>
        </p:txBody>
      </p:sp>
      <p:sp>
        <p:nvSpPr>
          <p:cNvPr id="5" name="road-segment-1">
            <a:extLst xmlns:a="http://schemas.openxmlformats.org/drawingml/2006/main">
              <a:ext uri="{FF2B5EF4-FFF2-40B4-BE49-F238E27FC236}">
                <a16:creationId xmlns:a16="http://schemas.microsoft.com/office/drawing/2014/main" id="{3FDDE6C2-93DA-4015-BD73-C2928C21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0000">
            <a:off x="1619250" y="46958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C3D1"/>
            </a:solidFill>
            <a:prstDash val="solid"/>
          </a:ln>
        </p:spPr>
      </p:sp>
      <p:sp>
        <p:nvSpPr>
          <p:cNvPr id="6" name="road-segment-2">
            <a:extLst xmlns:a="http://schemas.openxmlformats.org/drawingml/2006/main">
              <a:ext uri="{FF2B5EF4-FFF2-40B4-BE49-F238E27FC236}">
                <a16:creationId xmlns:a16="http://schemas.microsoft.com/office/drawing/2014/main" id="{11C91F6A-18F0-4BC9-9A55-8AB3B832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0000">
            <a:off x="3876675" y="4086225"/>
            <a:ext cx="271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C3D1"/>
            </a:solidFill>
            <a:prstDash val="solid"/>
          </a:ln>
        </p:spPr>
      </p:sp>
      <p:sp>
        <p:nvSpPr>
          <p:cNvPr id="7" name="road-segment-3">
            <a:extLst xmlns:a="http://schemas.openxmlformats.org/drawingml/2006/main">
              <a:ext uri="{FF2B5EF4-FFF2-40B4-BE49-F238E27FC236}">
                <a16:creationId xmlns:a16="http://schemas.microsoft.com/office/drawing/2014/main" id="{77FB32AA-B377-456A-89A9-A0EB8FF4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0">
            <a:off x="6438900" y="46958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C3D1"/>
            </a:solidFill>
            <a:prstDash val="solid"/>
          </a:ln>
        </p:spPr>
      </p:sp>
      <p:sp>
        <p:nvSpPr>
          <p:cNvPr id="8" name="road-segment-4">
            <a:extLst xmlns:a="http://schemas.openxmlformats.org/drawingml/2006/main">
              <a:ext uri="{FF2B5EF4-FFF2-40B4-BE49-F238E27FC236}">
                <a16:creationId xmlns:a16="http://schemas.microsoft.com/office/drawing/2014/main" id="{396C9980-F521-4DA9-9A14-24CEFFB9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9258300" y="36576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C3D1"/>
            </a:solidFill>
            <a:prstDash val="solid"/>
          </a:ln>
        </p:spPr>
      </p:sp>
      <p:sp>
        <p:nvSpPr>
          <p:cNvPr id="9" name="node-state">
            <a:extLst xmlns:a="http://schemas.openxmlformats.org/drawingml/2006/main">
              <a:ext uri="{FF2B5EF4-FFF2-40B4-BE49-F238E27FC236}">
                <a16:creationId xmlns:a16="http://schemas.microsoft.com/office/drawing/2014/main" id="{C47BC66F-DCC2-4DD4-9D1F-A2D75A0B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9A9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node-model">
            <a:extLst xmlns:a="http://schemas.openxmlformats.org/drawingml/2006/main">
              <a:ext uri="{FF2B5EF4-FFF2-40B4-BE49-F238E27FC236}">
                <a16:creationId xmlns:a16="http://schemas.microsoft.com/office/drawing/2014/main" id="{07660ED7-90EC-42EB-935F-93B6A51D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57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57D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node-route">
            <a:extLst xmlns:a="http://schemas.openxmlformats.org/drawingml/2006/main">
              <a:ext uri="{FF2B5EF4-FFF2-40B4-BE49-F238E27FC236}">
                <a16:creationId xmlns:a16="http://schemas.microsoft.com/office/drawing/2014/main" id="{91560BC1-2146-48A9-9F01-0347515B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196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node-ui">
            <a:extLst xmlns:a="http://schemas.openxmlformats.org/drawingml/2006/main">
              <a:ext uri="{FF2B5EF4-FFF2-40B4-BE49-F238E27FC236}">
                <a16:creationId xmlns:a16="http://schemas.microsoft.com/office/drawing/2014/main" id="{1536385E-E548-4470-9B96-11C9ECC5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719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A59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node-state-label">
            <a:extLst xmlns:a="http://schemas.openxmlformats.org/drawingml/2006/main">
              <a:ext uri="{FF2B5EF4-FFF2-40B4-BE49-F238E27FC236}">
                <a16:creationId xmlns:a16="http://schemas.microsoft.com/office/drawing/2014/main" id="{3FE6F20F-0785-468C-B32B-9650F0DF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033"/>
                </a:solidFill>
              </a:defRPr>
            </a:pPr>
            <a:r>
              <a:rPr sz="1350" b="1">
                <a:solidFill>
                  <a:srgbClr val="132033"/>
                </a:solidFill>
              </a:rPr>
              <a:t>Student state</a:t>
            </a:r>
          </a:p>
        </p:txBody>
      </p:sp>
      <p:sp>
        <p:nvSpPr>
          <p:cNvPr id="14" name="node-model-label">
            <a:extLst xmlns:a="http://schemas.openxmlformats.org/drawingml/2006/main">
              <a:ext uri="{FF2B5EF4-FFF2-40B4-BE49-F238E27FC236}">
                <a16:creationId xmlns:a16="http://schemas.microsoft.com/office/drawing/2014/main" id="{A93E8140-A236-4909-8E4F-AF1498CC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672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033"/>
                </a:solidFill>
              </a:defRPr>
            </a:pPr>
            <a:r>
              <a:rPr sz="1350" b="1">
                <a:solidFill>
                  <a:srgbClr val="132033"/>
                </a:solidFill>
              </a:rPr>
              <a:t>Gemini call</a:t>
            </a:r>
          </a:p>
        </p:txBody>
      </p:sp>
      <p:sp>
        <p:nvSpPr>
          <p:cNvPr id="15" name="node-route-label">
            <a:extLst xmlns:a="http://schemas.openxmlformats.org/drawingml/2006/main">
              <a:ext uri="{FF2B5EF4-FFF2-40B4-BE49-F238E27FC236}">
                <a16:creationId xmlns:a16="http://schemas.microsoft.com/office/drawing/2014/main" id="{2899F8C8-6A1F-4E2F-9838-F3327D09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958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033"/>
                </a:solidFill>
              </a:defRPr>
            </a:pPr>
            <a:r>
              <a:rPr sz="1350" b="1">
                <a:solidFill>
                  <a:srgbClr val="132033"/>
                </a:solidFill>
              </a:rPr>
              <a:t>Best next section</a:t>
            </a:r>
          </a:p>
        </p:txBody>
      </p:sp>
      <p:sp>
        <p:nvSpPr>
          <p:cNvPr id="16" name="node-ui-label">
            <a:extLst xmlns:a="http://schemas.openxmlformats.org/drawingml/2006/main">
              <a:ext uri="{FF2B5EF4-FFF2-40B4-BE49-F238E27FC236}">
                <a16:creationId xmlns:a16="http://schemas.microsoft.com/office/drawing/2014/main" id="{BD031237-55A1-4D3B-8D7C-EE618862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033"/>
                </a:solidFill>
              </a:defRPr>
            </a:pPr>
            <a:r>
              <a:rPr sz="1350" b="1">
                <a:solidFill>
                  <a:srgbClr val="132033"/>
                </a:solidFill>
              </a:rPr>
              <a:t>Roadmap timeline</a:t>
            </a:r>
          </a:p>
        </p:txBody>
      </p:sp>
      <p:sp>
        <p:nvSpPr>
          <p:cNvPr id="17" name="feature-copy">
            <a:extLst xmlns:a="http://schemas.openxmlformats.org/drawingml/2006/main">
              <a:ext uri="{FF2B5EF4-FFF2-40B4-BE49-F238E27FC236}">
                <a16:creationId xmlns:a16="http://schemas.microsoft.com/office/drawing/2014/main" id="{7AC75145-B32F-44DA-9D8D-3F32960E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85950"/>
            <a:ext cx="3524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32033"/>
                </a:solidFill>
              </a:defRPr>
            </a:pPr>
            <a:r>
              <a:rPr sz="1650">
                <a:solidFill>
                  <a:srgbClr val="132033"/>
                </a:solidFill>
              </a:rPr>
              <a:t>It powered three visible behaviors:</a:t>
            </a:r>
          </a:p>
          <a:p xmlns:a="http://schemas.openxmlformats.org/drawingml/2006/main">
            <a:pPr>
              <a:defRPr sz="1650">
                <a:solidFill>
                  <a:srgbClr val="132033"/>
                </a:solidFill>
              </a:defRPr>
            </a:pPr>
            <a:r>
              <a:rPr sz="1650">
                <a:solidFill>
                  <a:srgbClr val="132033"/>
                </a:solidFill>
              </a:rPr>
              <a:t>1. a recommended next task</a:t>
            </a:r>
          </a:p>
          <a:p xmlns:a="http://schemas.openxmlformats.org/drawingml/2006/main">
            <a:pPr>
              <a:defRPr sz="1650">
                <a:solidFill>
                  <a:srgbClr val="132033"/>
                </a:solidFill>
              </a:defRPr>
            </a:pPr>
            <a:r>
              <a:rPr sz="1650">
                <a:solidFill>
                  <a:srgbClr val="132033"/>
                </a:solidFill>
              </a:rPr>
              <a:t>2. ranked follow-up sections</a:t>
            </a:r>
          </a:p>
          <a:p xmlns:a="http://schemas.openxmlformats.org/drawingml/2006/main">
            <a:pPr>
              <a:defRPr sz="1650">
                <a:solidFill>
                  <a:srgbClr val="132033"/>
                </a:solidFill>
              </a:defRPr>
            </a:pPr>
            <a:r>
              <a:rPr sz="1650">
                <a:solidFill>
                  <a:srgbClr val="132033"/>
                </a:solidFill>
              </a:rPr>
              <a:t>3. 5-8 personalized real-world milestones</a:t>
            </a:r>
          </a:p>
        </p:txBody>
      </p:sp>
      <p:sp>
        <p:nvSpPr>
          <p:cNvPr id="18" name="large-arc">
            <a:extLst xmlns:a="http://schemas.openxmlformats.org/drawingml/2006/main">
              <a:ext uri="{FF2B5EF4-FFF2-40B4-BE49-F238E27FC236}">
                <a16:creationId xmlns:a16="http://schemas.microsoft.com/office/drawing/2014/main" id="{67382109-6EDB-413C-B967-06BA3FCE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6686550" y="914400"/>
            <a:ext cx="4095750" cy="40957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E7EDF4"/>
            </a:solidFill>
            <a:prstDash val="solid"/>
          </a:ln>
        </p:spPr>
      </p:sp>
      <p:sp>
        <p:nvSpPr>
          <p:cNvPr id="19" name="footer-1">
            <a:extLst xmlns:a="http://schemas.openxmlformats.org/drawingml/2006/main">
              <a:ext uri="{FF2B5EF4-FFF2-40B4-BE49-F238E27FC236}">
                <a16:creationId xmlns:a16="http://schemas.microsoft.com/office/drawing/2014/main" id="{992E8F5B-0397-406B-9518-5933E902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B98AA"/>
                </a:solidFill>
              </a:defRPr>
            </a:pPr>
            <a:r>
              <a:rPr sz="900">
                <a:solidFill>
                  <a:srgbClr val="8B98AA"/>
                </a:solidFill>
              </a:rPr>
              <a:t>Dream College LLM integration / 1</a:t>
            </a:r>
          </a:p>
        </p:txBody>
      </p:sp>
    </p:spTree>
    <p:extLst>
      <p:ext uri="{BB962C8B-B14F-4D97-AF65-F5344CB8AC3E}">
        <p14:creationId xmlns:p14="http://schemas.microsoft.com/office/powerpoint/2010/main" val="37330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65932DF0-7119-482D-85AD-844AD186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99A9A"/>
                </a:solidFill>
              </a:defRPr>
            </a:pPr>
            <a:r>
              <a:rPr sz="975" b="1">
                <a:solidFill>
                  <a:srgbClr val="099A9A"/>
                </a:solidFill>
              </a:rPr>
              <a:t>PROMPTING PROCESS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3DE7A31-986C-47CA-A86C-8C41888F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033"/>
                </a:solidFill>
              </a:defRPr>
            </a:pPr>
            <a:r>
              <a:rPr sz="3000" b="1">
                <a:solidFill>
                  <a:srgbClr val="132033"/>
                </a:solidFill>
              </a:rPr>
              <a:t>The prompt acted like a contract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5675835-A301-46D8-A830-EE2A2A91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</a:defRPr>
            </a:pPr>
            <a:r>
              <a:rPr sz="1500">
                <a:solidFill>
                  <a:srgbClr val="536174"/>
                </a:solidFill>
              </a:rPr>
              <a:t>The prompt bundled live app context with rules that limited what the model could recommend.</a:t>
            </a:r>
          </a:p>
        </p:txBody>
      </p:sp>
      <p:sp>
        <p:nvSpPr>
          <p:cNvPr id="4" name="contract-word">
            <a:extLst xmlns:a="http://schemas.openxmlformats.org/drawingml/2006/main">
              <a:ext uri="{FF2B5EF4-FFF2-40B4-BE49-F238E27FC236}">
                <a16:creationId xmlns:a16="http://schemas.microsoft.com/office/drawing/2014/main" id="{0A5E1ADF-AD9F-4E46-B186-87295159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8191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200" b="1">
                <a:solidFill>
                  <a:srgbClr val="EEF2F7"/>
                </a:solidFill>
              </a:defRPr>
            </a:pPr>
            <a:r>
              <a:rPr sz="4200" b="1">
                <a:solidFill>
                  <a:srgbClr val="EEF2F7"/>
                </a:solidFill>
              </a:rPr>
              <a:t>CONTRACT</a:t>
            </a:r>
          </a:p>
        </p:txBody>
      </p:sp>
      <p:sp>
        <p:nvSpPr>
          <p:cNvPr id="5" name="center-spine">
            <a:extLst xmlns:a="http://schemas.openxmlformats.org/drawingml/2006/main">
              <a:ext uri="{FF2B5EF4-FFF2-40B4-BE49-F238E27FC236}">
                <a16:creationId xmlns:a16="http://schemas.microsoft.com/office/drawing/2014/main" id="{9B65074B-1517-4538-A8FE-6DC88F67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76925" y="22669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C8D5"/>
            </a:solidFill>
            <a:prstDash val="solid"/>
          </a:ln>
        </p:spPr>
      </p:sp>
      <p:sp>
        <p:nvSpPr>
          <p:cNvPr id="6" name="center-dot">
            <a:extLst xmlns:a="http://schemas.openxmlformats.org/drawingml/2006/main">
              <a:ext uri="{FF2B5EF4-FFF2-40B4-BE49-F238E27FC236}">
                <a16:creationId xmlns:a16="http://schemas.microsoft.com/office/drawing/2014/main" id="{3E2A855B-0C93-4A8D-B316-670EE7D8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813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57D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center-dot-text">
            <a:extLst xmlns:a="http://schemas.openxmlformats.org/drawingml/2006/main">
              <a:ext uri="{FF2B5EF4-FFF2-40B4-BE49-F238E27FC236}">
                <a16:creationId xmlns:a16="http://schemas.microsoft.com/office/drawing/2014/main" id="{F68D4CAA-53C3-42C3-80FF-026EAD59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29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8" name="left-dot-Profile">
            <a:extLst xmlns:a="http://schemas.openxmlformats.org/drawingml/2006/main">
              <a:ext uri="{FF2B5EF4-FFF2-40B4-BE49-F238E27FC236}">
                <a16:creationId xmlns:a16="http://schemas.microsoft.com/office/drawing/2014/main" id="{86128EBD-0AA9-471D-B648-10166EC8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9A9A"/>
          </a:solidFill>
          <a:ln xmlns:a="http://schemas.openxmlformats.org/drawingml/2006/main" w="38100">
            <a:solidFill>
              <a:srgbClr val="099A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left-label-Profile">
            <a:extLst xmlns:a="http://schemas.openxmlformats.org/drawingml/2006/main">
              <a:ext uri="{FF2B5EF4-FFF2-40B4-BE49-F238E27FC236}">
                <a16:creationId xmlns:a16="http://schemas.microsoft.com/office/drawing/2014/main" id="{EA0392DC-BD49-46F1-825C-FF386D69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14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033"/>
                </a:solidFill>
              </a:defRPr>
            </a:pPr>
            <a:r>
              <a:rPr sz="1800" b="1">
                <a:solidFill>
                  <a:srgbClr val="132033"/>
                </a:solidFill>
              </a:rPr>
              <a:t>Profile</a:t>
            </a:r>
          </a:p>
        </p:txBody>
      </p:sp>
      <p:sp>
        <p:nvSpPr>
          <p:cNvPr id="10" name="left-body-Profile">
            <a:extLst xmlns:a="http://schemas.openxmlformats.org/drawingml/2006/main">
              <a:ext uri="{FF2B5EF4-FFF2-40B4-BE49-F238E27FC236}">
                <a16:creationId xmlns:a16="http://schemas.microsoft.com/office/drawing/2014/main" id="{02B8FE2B-E285-4E6A-BB57-CC789D6D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74"/>
                </a:solidFill>
              </a:defRPr>
            </a:pPr>
            <a:r>
              <a:rPr sz="1275">
                <a:solidFill>
                  <a:srgbClr val="536174"/>
                </a:solidFill>
              </a:rPr>
              <a:t>grade, GPA, APs, tests, activities, awards</a:t>
            </a:r>
          </a:p>
        </p:txBody>
      </p:sp>
      <p:sp>
        <p:nvSpPr>
          <p:cNvPr id="11" name="left-line-Profile">
            <a:extLst xmlns:a="http://schemas.openxmlformats.org/drawingml/2006/main">
              <a:ext uri="{FF2B5EF4-FFF2-40B4-BE49-F238E27FC236}">
                <a16:creationId xmlns:a16="http://schemas.microsoft.com/office/drawing/2014/main" id="{45F0CADC-90D5-4543-8341-0D8286B7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28194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AE4"/>
            </a:solidFill>
            <a:prstDash val="solid"/>
          </a:ln>
        </p:spPr>
      </p:sp>
      <p:sp>
        <p:nvSpPr>
          <p:cNvPr id="12" name="left-dot-Quiz answers">
            <a:extLst xmlns:a="http://schemas.openxmlformats.org/drawingml/2006/main">
              <a:ext uri="{FF2B5EF4-FFF2-40B4-BE49-F238E27FC236}">
                <a16:creationId xmlns:a16="http://schemas.microsoft.com/office/drawing/2014/main" id="{53456BFB-AD15-420D-AE96-54769010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38100">
            <a:solidFill>
              <a:srgbClr val="E76F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left-label-Quiz answers">
            <a:extLst xmlns:a="http://schemas.openxmlformats.org/drawingml/2006/main">
              <a:ext uri="{FF2B5EF4-FFF2-40B4-BE49-F238E27FC236}">
                <a16:creationId xmlns:a16="http://schemas.microsoft.com/office/drawing/2014/main" id="{51E48CE0-99F8-4C64-A6A6-31EF70AF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033"/>
                </a:solidFill>
              </a:defRPr>
            </a:pPr>
            <a:r>
              <a:rPr sz="1800" b="1">
                <a:solidFill>
                  <a:srgbClr val="132033"/>
                </a:solidFill>
              </a:rPr>
              <a:t>Quiz answers</a:t>
            </a:r>
          </a:p>
        </p:txBody>
      </p:sp>
      <p:sp>
        <p:nvSpPr>
          <p:cNvPr id="14" name="left-body-Quiz answers">
            <a:extLst xmlns:a="http://schemas.openxmlformats.org/drawingml/2006/main">
              <a:ext uri="{FF2B5EF4-FFF2-40B4-BE49-F238E27FC236}">
                <a16:creationId xmlns:a16="http://schemas.microsoft.com/office/drawing/2014/main" id="{7A21B671-CF24-46BF-91F7-6004C08E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3860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74"/>
                </a:solidFill>
              </a:defRPr>
            </a:pPr>
            <a:r>
              <a:rPr sz="1275">
                <a:solidFill>
                  <a:srgbClr val="536174"/>
                </a:solidFill>
              </a:rPr>
              <a:t>career interests and work-style signals</a:t>
            </a:r>
          </a:p>
        </p:txBody>
      </p:sp>
      <p:sp>
        <p:nvSpPr>
          <p:cNvPr id="15" name="left-line-Quiz answers">
            <a:extLst xmlns:a="http://schemas.openxmlformats.org/drawingml/2006/main">
              <a:ext uri="{FF2B5EF4-FFF2-40B4-BE49-F238E27FC236}">
                <a16:creationId xmlns:a16="http://schemas.microsoft.com/office/drawing/2014/main" id="{54AD86D6-CCF4-433A-8E01-5500FBAD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40195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AE4"/>
            </a:solidFill>
            <a:prstDash val="solid"/>
          </a:ln>
        </p:spPr>
      </p:sp>
      <p:sp>
        <p:nvSpPr>
          <p:cNvPr id="16" name="left-dot-Progress">
            <a:extLst xmlns:a="http://schemas.openxmlformats.org/drawingml/2006/main">
              <a:ext uri="{FF2B5EF4-FFF2-40B4-BE49-F238E27FC236}">
                <a16:creationId xmlns:a16="http://schemas.microsoft.com/office/drawing/2014/main" id="{95FDD5C6-D233-4768-BDE6-4C918515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B16"/>
          </a:solidFill>
          <a:ln xmlns:a="http://schemas.openxmlformats.org/drawingml/2006/main" w="38100">
            <a:solidFill>
              <a:srgbClr val="D59B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left-label-Progress">
            <a:extLst xmlns:a="http://schemas.openxmlformats.org/drawingml/2006/main">
              <a:ext uri="{FF2B5EF4-FFF2-40B4-BE49-F238E27FC236}">
                <a16:creationId xmlns:a16="http://schemas.microsoft.com/office/drawing/2014/main" id="{70036A84-7F74-4FDA-B388-198E2874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033"/>
                </a:solidFill>
              </a:defRPr>
            </a:pPr>
            <a:r>
              <a:rPr sz="1800" b="1">
                <a:solidFill>
                  <a:srgbClr val="132033"/>
                </a:solidFill>
              </a:rPr>
              <a:t>Progress</a:t>
            </a:r>
          </a:p>
        </p:txBody>
      </p:sp>
      <p:sp>
        <p:nvSpPr>
          <p:cNvPr id="18" name="left-body-Progress">
            <a:extLst xmlns:a="http://schemas.openxmlformats.org/drawingml/2006/main">
              <a:ext uri="{FF2B5EF4-FFF2-40B4-BE49-F238E27FC236}">
                <a16:creationId xmlns:a16="http://schemas.microsoft.com/office/drawing/2014/main" id="{2634E270-3BF7-4AD1-A5D6-DE6BB886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387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74"/>
                </a:solidFill>
              </a:defRPr>
            </a:pPr>
            <a:r>
              <a:rPr sz="1275">
                <a:solidFill>
                  <a:srgbClr val="536174"/>
                </a:solidFill>
              </a:rPr>
              <a:t>completed, incomplete, and newly finished steps</a:t>
            </a:r>
          </a:p>
        </p:txBody>
      </p:sp>
      <p:sp>
        <p:nvSpPr>
          <p:cNvPr id="19" name="left-line-Progress">
            <a:extLst xmlns:a="http://schemas.openxmlformats.org/drawingml/2006/main">
              <a:ext uri="{FF2B5EF4-FFF2-40B4-BE49-F238E27FC236}">
                <a16:creationId xmlns:a16="http://schemas.microsoft.com/office/drawing/2014/main" id="{2F9CB71E-E7D8-44ED-88C4-E4ADEC3F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52197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AE4"/>
            </a:solidFill>
            <a:prstDash val="solid"/>
          </a:ln>
        </p:spPr>
      </p:sp>
      <p:sp>
        <p:nvSpPr>
          <p:cNvPr id="20" name="right-line-Use only known sections">
            <a:extLst xmlns:a="http://schemas.openxmlformats.org/drawingml/2006/main">
              <a:ext uri="{FF2B5EF4-FFF2-40B4-BE49-F238E27FC236}">
                <a16:creationId xmlns:a16="http://schemas.microsoft.com/office/drawing/2014/main" id="{A56732D7-FCAB-4172-8ED4-336D2122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27432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AE4"/>
            </a:solidFill>
            <a:prstDash val="solid"/>
          </a:ln>
        </p:spPr>
      </p:sp>
      <p:sp>
        <p:nvSpPr>
          <p:cNvPr id="21" name="right-dot-Use only known sections">
            <a:extLst xmlns:a="http://schemas.openxmlformats.org/drawingml/2006/main">
              <a:ext uri="{FF2B5EF4-FFF2-40B4-BE49-F238E27FC236}">
                <a16:creationId xmlns:a16="http://schemas.microsoft.com/office/drawing/2014/main" id="{54FDE3CE-F84A-42E8-8F24-9C7F28A3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95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9A9A"/>
          </a:solidFill>
          <a:ln xmlns:a="http://schemas.openxmlformats.org/drawingml/2006/main" w="38100">
            <a:solidFill>
              <a:srgbClr val="099A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right-label-Use only known sections">
            <a:extLst xmlns:a="http://schemas.openxmlformats.org/drawingml/2006/main">
              <a:ext uri="{FF2B5EF4-FFF2-40B4-BE49-F238E27FC236}">
                <a16:creationId xmlns:a16="http://schemas.microsoft.com/office/drawing/2014/main" id="{E6B3A277-9B13-462F-B599-A9A4FEA6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193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033"/>
                </a:solidFill>
              </a:defRPr>
            </a:pPr>
            <a:r>
              <a:rPr sz="1800" b="1">
                <a:solidFill>
                  <a:srgbClr val="132033"/>
                </a:solidFill>
              </a:rPr>
              <a:t>Use only known sections</a:t>
            </a:r>
          </a:p>
        </p:txBody>
      </p:sp>
      <p:sp>
        <p:nvSpPr>
          <p:cNvPr id="23" name="right-body-Use only known sections">
            <a:extLst xmlns:a="http://schemas.openxmlformats.org/drawingml/2006/main">
              <a:ext uri="{FF2B5EF4-FFF2-40B4-BE49-F238E27FC236}">
                <a16:creationId xmlns:a16="http://schemas.microsoft.com/office/drawing/2014/main" id="{EA468F4A-8D4A-4513-B747-B3BAB6D0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432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74"/>
                </a:solidFill>
              </a:defRPr>
            </a:pPr>
            <a:r>
              <a:rPr sz="1275">
                <a:solidFill>
                  <a:srgbClr val="536174"/>
                </a:solidFill>
              </a:rPr>
              <a:t>sectionId had to match the navigation catalog</a:t>
            </a:r>
          </a:p>
        </p:txBody>
      </p:sp>
      <p:sp>
        <p:nvSpPr>
          <p:cNvPr id="24" name="right-line-Prefer unfinished work">
            <a:extLst xmlns:a="http://schemas.openxmlformats.org/drawingml/2006/main">
              <a:ext uri="{FF2B5EF4-FFF2-40B4-BE49-F238E27FC236}">
                <a16:creationId xmlns:a16="http://schemas.microsoft.com/office/drawing/2014/main" id="{F47D6F79-0C22-4FF7-A534-40C5BDB1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3971925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AE4"/>
            </a:solidFill>
            <a:prstDash val="solid"/>
          </a:ln>
        </p:spPr>
      </p:sp>
      <p:sp>
        <p:nvSpPr>
          <p:cNvPr id="25" name="right-dot-Prefer unfinished work">
            <a:extLst xmlns:a="http://schemas.openxmlformats.org/drawingml/2006/main">
              <a:ext uri="{FF2B5EF4-FFF2-40B4-BE49-F238E27FC236}">
                <a16:creationId xmlns:a16="http://schemas.microsoft.com/office/drawing/2014/main" id="{C6B6D603-F391-40EE-9362-CF39F31A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24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38100">
            <a:solidFill>
              <a:srgbClr val="E76F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right-label-Prefer unfinished work">
            <a:extLst xmlns:a="http://schemas.openxmlformats.org/drawingml/2006/main">
              <a:ext uri="{FF2B5EF4-FFF2-40B4-BE49-F238E27FC236}">
                <a16:creationId xmlns:a16="http://schemas.microsoft.com/office/drawing/2014/main" id="{B6DC9666-5DF1-469A-ADE9-D1AB4B56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480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033"/>
                </a:solidFill>
              </a:defRPr>
            </a:pPr>
            <a:r>
              <a:rPr sz="1800" b="1">
                <a:solidFill>
                  <a:srgbClr val="132033"/>
                </a:solidFill>
              </a:rPr>
              <a:t>Prefer unfinished work</a:t>
            </a:r>
          </a:p>
        </p:txBody>
      </p:sp>
      <p:sp>
        <p:nvSpPr>
          <p:cNvPr id="27" name="right-body-Prefer unfinished work">
            <a:extLst xmlns:a="http://schemas.openxmlformats.org/drawingml/2006/main">
              <a:ext uri="{FF2B5EF4-FFF2-40B4-BE49-F238E27FC236}">
                <a16:creationId xmlns:a16="http://schemas.microsoft.com/office/drawing/2014/main" id="{0793AAE8-3066-4A09-9F75-8E386EBE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719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74"/>
                </a:solidFill>
              </a:defRPr>
            </a:pPr>
            <a:r>
              <a:rPr sz="1275">
                <a:solidFill>
                  <a:srgbClr val="536174"/>
                </a:solidFill>
              </a:rPr>
              <a:t>recommendations should not send students back to completed tasks</a:t>
            </a:r>
          </a:p>
        </p:txBody>
      </p:sp>
      <p:sp>
        <p:nvSpPr>
          <p:cNvPr id="28" name="right-line-Explain with student signals">
            <a:extLst xmlns:a="http://schemas.openxmlformats.org/drawingml/2006/main">
              <a:ext uri="{FF2B5EF4-FFF2-40B4-BE49-F238E27FC236}">
                <a16:creationId xmlns:a16="http://schemas.microsoft.com/office/drawing/2014/main" id="{0168DAB2-3B44-49D5-BA89-EE94AB31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52006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AE4"/>
            </a:solidFill>
            <a:prstDash val="solid"/>
          </a:ln>
        </p:spPr>
      </p:sp>
      <p:sp>
        <p:nvSpPr>
          <p:cNvPr id="29" name="right-dot-Explain with student signals">
            <a:extLst xmlns:a="http://schemas.openxmlformats.org/drawingml/2006/main">
              <a:ext uri="{FF2B5EF4-FFF2-40B4-BE49-F238E27FC236}">
                <a16:creationId xmlns:a16="http://schemas.microsoft.com/office/drawing/2014/main" id="{6B1A2A12-A902-4409-8AE7-08B028F7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A59"/>
          </a:solidFill>
          <a:ln xmlns:a="http://schemas.openxmlformats.org/drawingml/2006/main" w="38100">
            <a:solidFill>
              <a:srgbClr val="1B9A5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right-label-Explain with student signals">
            <a:extLst xmlns:a="http://schemas.openxmlformats.org/drawingml/2006/main">
              <a:ext uri="{FF2B5EF4-FFF2-40B4-BE49-F238E27FC236}">
                <a16:creationId xmlns:a16="http://schemas.microsoft.com/office/drawing/2014/main" id="{B91A97AE-78EE-4007-96DB-90C930F7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76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033"/>
                </a:solidFill>
              </a:defRPr>
            </a:pPr>
            <a:r>
              <a:rPr sz="1800" b="1">
                <a:solidFill>
                  <a:srgbClr val="132033"/>
                </a:solidFill>
              </a:rPr>
              <a:t>Explain with student signals</a:t>
            </a:r>
          </a:p>
        </p:txBody>
      </p:sp>
      <p:sp>
        <p:nvSpPr>
          <p:cNvPr id="31" name="right-body-Explain with student signals">
            <a:extLst xmlns:a="http://schemas.openxmlformats.org/drawingml/2006/main">
              <a:ext uri="{FF2B5EF4-FFF2-40B4-BE49-F238E27FC236}">
                <a16:creationId xmlns:a16="http://schemas.microsoft.com/office/drawing/2014/main" id="{50A39EE9-B3F8-4F69-BBFC-AB59C97F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006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74"/>
                </a:solidFill>
              </a:defRPr>
            </a:pPr>
            <a:r>
              <a:rPr sz="1275">
                <a:solidFill>
                  <a:srgbClr val="536174"/>
                </a:solidFill>
              </a:rPr>
              <a:t>the why had to cite profile or quiz evidence</a:t>
            </a:r>
          </a:p>
        </p:txBody>
      </p:sp>
      <p:sp>
        <p:nvSpPr>
          <p:cNvPr id="32" name="bottom-note">
            <a:extLst xmlns:a="http://schemas.openxmlformats.org/drawingml/2006/main">
              <a:ext uri="{FF2B5EF4-FFF2-40B4-BE49-F238E27FC236}">
                <a16:creationId xmlns:a16="http://schemas.microsoft.com/office/drawing/2014/main" id="{B91F72FF-7060-44AC-BC80-DEBFC43B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9817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033"/>
                </a:solidFill>
              </a:defRPr>
            </a:pPr>
            <a:r>
              <a:rPr sz="1575" b="1">
                <a:solidFill>
                  <a:srgbClr val="132033"/>
                </a:solidFill>
              </a:rPr>
              <a:t>That structure is what made the output usable: the model reasoned creatively, but only inside the app's real menu.</a:t>
            </a:r>
          </a:p>
        </p:txBody>
      </p:sp>
      <p:sp>
        <p:nvSpPr>
          <p:cNvPr id="33" name="footer-2">
            <a:extLst xmlns:a="http://schemas.openxmlformats.org/drawingml/2006/main">
              <a:ext uri="{FF2B5EF4-FFF2-40B4-BE49-F238E27FC236}">
                <a16:creationId xmlns:a16="http://schemas.microsoft.com/office/drawing/2014/main" id="{597C0E22-52D2-4A29-A396-D9CDB453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B98AA"/>
                </a:solidFill>
              </a:defRPr>
            </a:pPr>
            <a:r>
              <a:rPr sz="900">
                <a:solidFill>
                  <a:srgbClr val="8B98AA"/>
                </a:solidFill>
              </a:rPr>
              <a:t>Dream College LLM integration / 2</a:t>
            </a:r>
          </a:p>
        </p:txBody>
      </p:sp>
    </p:spTree>
    <p:extLst>
      <p:ext uri="{BB962C8B-B14F-4D97-AF65-F5344CB8AC3E}">
        <p14:creationId xmlns:p14="http://schemas.microsoft.com/office/powerpoint/2010/main" val="12715885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980FF618-835E-4531-8A97-0CD172F5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99A9A"/>
                </a:solidFill>
              </a:defRPr>
            </a:pPr>
            <a:r>
              <a:rPr sz="975" b="1">
                <a:solidFill>
                  <a:srgbClr val="099A9A"/>
                </a:solidFill>
              </a:rPr>
              <a:t>OUTPUT PARSING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AB05AA4-F902-4154-B878-0509D954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033"/>
                </a:solidFill>
              </a:defRPr>
            </a:pPr>
            <a:r>
              <a:rPr sz="3000" b="1">
                <a:solidFill>
                  <a:srgbClr val="132033"/>
                </a:solidFill>
              </a:rPr>
              <a:t>Only validated data reached the UI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667F5D5-0C19-4749-9B0B-EA3864B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</a:defRPr>
            </a:pPr>
            <a:r>
              <a:rPr sz="1500">
                <a:solidFill>
                  <a:srgbClr val="536174"/>
                </a:solidFill>
              </a:rPr>
              <a:t>Generation was only the middle of the system. The safer part was validating what came back before showing it.</a:t>
            </a:r>
          </a:p>
        </p:txBody>
      </p:sp>
      <p:sp>
        <p:nvSpPr>
          <p:cNvPr id="4" name="code-paper">
            <a:extLst xmlns:a="http://schemas.openxmlformats.org/drawingml/2006/main">
              <a:ext uri="{FF2B5EF4-FFF2-40B4-BE49-F238E27FC236}">
                <a16:creationId xmlns:a16="http://schemas.microsoft.com/office/drawing/2014/main" id="{B1507A42-0070-4072-9E12-776659E0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34099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B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code-title">
            <a:extLst xmlns:a="http://schemas.openxmlformats.org/drawingml/2006/main">
              <a:ext uri="{FF2B5EF4-FFF2-40B4-BE49-F238E27FC236}">
                <a16:creationId xmlns:a16="http://schemas.microsoft.com/office/drawing/2014/main" id="{3D6E8CE9-29F6-462E-9CB0-AD3D9DFE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033"/>
                </a:solidFill>
              </a:defRPr>
            </a:pPr>
            <a:r>
              <a:rPr sz="1650" b="1">
                <a:solidFill>
                  <a:srgbClr val="132033"/>
                </a:solidFill>
              </a:rPr>
              <a:t>Model response</a:t>
            </a:r>
          </a:p>
        </p:txBody>
      </p:sp>
      <p:sp>
        <p:nvSpPr>
          <p:cNvPr id="6" name="json">
            <a:extLst xmlns:a="http://schemas.openxmlformats.org/drawingml/2006/main">
              <a:ext uri="{FF2B5EF4-FFF2-40B4-BE49-F238E27FC236}">
                <a16:creationId xmlns:a16="http://schemas.microsoft.com/office/drawing/2014/main" id="{456814AC-8A83-4F24-BA12-DEA7DF59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24158"/>
                </a:solidFill>
              </a:defRPr>
            </a:pPr>
            <a:r>
              <a:rPr sz="1500">
                <a:solidFill>
                  <a:srgbClr val="324158"/>
                </a:solidFill>
              </a:rPr>
              <a:t>{</a:t>
            </a:r>
          </a:p>
          <a:p xmlns:a="http://schemas.openxmlformats.org/drawingml/2006/main">
            <a:pPr>
              <a:defRPr sz="1500">
                <a:solidFill>
                  <a:srgbClr val="324158"/>
                </a:solidFill>
              </a:defRPr>
            </a:pPr>
            <a:r>
              <a:rPr sz="1500">
                <a:solidFill>
                  <a:srgbClr val="324158"/>
                </a:solidFill>
              </a:rPr>
              <a:t>  "recommendation": {...},</a:t>
            </a:r>
          </a:p>
          <a:p xmlns:a="http://schemas.openxmlformats.org/drawingml/2006/main">
            <a:pPr>
              <a:defRPr sz="1500">
                <a:solidFill>
                  <a:srgbClr val="324158"/>
                </a:solidFill>
              </a:defRPr>
            </a:pPr>
            <a:r>
              <a:rPr sz="1500">
                <a:solidFill>
                  <a:srgbClr val="324158"/>
                </a:solidFill>
              </a:rPr>
              <a:t>  "sectionPicks": [...],</a:t>
            </a:r>
          </a:p>
          <a:p xmlns:a="http://schemas.openxmlformats.org/drawingml/2006/main">
            <a:pPr>
              <a:defRPr sz="1500">
                <a:solidFill>
                  <a:srgbClr val="324158"/>
                </a:solidFill>
              </a:defRPr>
            </a:pPr>
            <a:r>
              <a:rPr sz="1500">
                <a:solidFill>
                  <a:srgbClr val="324158"/>
                </a:solidFill>
              </a:rPr>
              <a:t>  "entries": [...]</a:t>
            </a:r>
          </a:p>
          <a:p xmlns:a="http://schemas.openxmlformats.org/drawingml/2006/main">
            <a:pPr>
              <a:defRPr sz="1500">
                <a:solidFill>
                  <a:srgbClr val="324158"/>
                </a:solidFill>
              </a:defRPr>
            </a:pPr>
            <a:r>
              <a:rPr sz="1500">
                <a:solidFill>
                  <a:srgbClr val="324158"/>
                </a:solidFill>
              </a:rPr>
              <a:t>}</a:t>
            </a:r>
          </a:p>
        </p:txBody>
      </p:sp>
      <p:sp>
        <p:nvSpPr>
          <p:cNvPr id="7" name="funnel-left">
            <a:extLst xmlns:a="http://schemas.openxmlformats.org/drawingml/2006/main">
              <a:ext uri="{FF2B5EF4-FFF2-40B4-BE49-F238E27FC236}">
                <a16:creationId xmlns:a16="http://schemas.microsoft.com/office/drawing/2014/main" id="{9457F597-352B-4012-915F-A4C5FCF0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48000"/>
            <a:ext cx="1257300" cy="1466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solidFill>
              <a:srgbClr val="EDF3F8"/>
            </a:solidFill>
            <a:prstDash val="solid"/>
          </a:ln>
        </p:spPr>
      </p:sp>
      <p:sp>
        <p:nvSpPr>
          <p:cNvPr id="8" name="funnel-right">
            <a:extLst xmlns:a="http://schemas.openxmlformats.org/drawingml/2006/main">
              <a:ext uri="{FF2B5EF4-FFF2-40B4-BE49-F238E27FC236}">
                <a16:creationId xmlns:a16="http://schemas.microsoft.com/office/drawing/2014/main" id="{F9CA142A-B5AA-4937-87E1-928B2735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48000"/>
            <a:ext cx="1257300" cy="1466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FEAF2"/>
          </a:solidFill>
          <a:ln xmlns:a="http://schemas.openxmlformats.org/drawingml/2006/main" w="0">
            <a:solidFill>
              <a:srgbClr val="DFEAF2"/>
            </a:solidFill>
            <a:prstDash val="solid"/>
          </a:ln>
        </p:spPr>
      </p:sp>
      <p:sp>
        <p:nvSpPr>
          <p:cNvPr id="9" name="validate-word">
            <a:extLst xmlns:a="http://schemas.openxmlformats.org/drawingml/2006/main">
              <a:ext uri="{FF2B5EF4-FFF2-40B4-BE49-F238E27FC236}">
                <a16:creationId xmlns:a16="http://schemas.microsoft.com/office/drawing/2014/main" id="{80FE76F8-DF96-4EF0-8B27-F98199BB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337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033"/>
                </a:solidFill>
              </a:defRPr>
            </a:pPr>
            <a:r>
              <a:rPr sz="1800" b="1">
                <a:solidFill>
                  <a:srgbClr val="132033"/>
                </a:solidFill>
              </a:rPr>
              <a:t>parse</a:t>
            </a:r>
          </a:p>
          <a:p xmlns:a="http://schemas.openxmlformats.org/drawingml/2006/main">
            <a:pPr algn="ctr">
              <a:defRPr sz="1800" b="1">
                <a:solidFill>
                  <a:srgbClr val="132033"/>
                </a:solidFill>
              </a:defRPr>
            </a:pPr>
            <a:r>
              <a:rPr sz="1800" b="1">
                <a:solidFill>
                  <a:srgbClr val="132033"/>
                </a:solidFill>
              </a:rPr>
              <a:t>filter</a:t>
            </a:r>
          </a:p>
          <a:p xmlns:a="http://schemas.openxmlformats.org/drawingml/2006/main">
            <a:pPr algn="ctr">
              <a:defRPr sz="1800" b="1">
                <a:solidFill>
                  <a:srgbClr val="132033"/>
                </a:solidFill>
              </a:defRPr>
            </a:pPr>
            <a:r>
              <a:rPr sz="1800" b="1">
                <a:solidFill>
                  <a:srgbClr val="132033"/>
                </a:solidFill>
              </a:rPr>
              <a:t>fallback</a:t>
            </a:r>
          </a:p>
        </p:txBody>
      </p:sp>
      <p:sp>
        <p:nvSpPr>
          <p:cNvPr id="10" name="check-dot-0">
            <a:extLst xmlns:a="http://schemas.openxmlformats.org/drawingml/2006/main">
              <a:ext uri="{FF2B5EF4-FFF2-40B4-BE49-F238E27FC236}">
                <a16:creationId xmlns:a16="http://schemas.microsoft.com/office/drawing/2014/main" id="{2512EC87-464E-4666-AE6E-9EF1B04D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09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9A9A"/>
          </a:solidFill>
          <a:ln xmlns:a="http://schemas.openxmlformats.org/drawingml/2006/main" w="38100">
            <a:solidFill>
              <a:srgbClr val="099A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check-label-0">
            <a:extLst xmlns:a="http://schemas.openxmlformats.org/drawingml/2006/main">
              <a:ext uri="{FF2B5EF4-FFF2-40B4-BE49-F238E27FC236}">
                <a16:creationId xmlns:a16="http://schemas.microsoft.com/office/drawing/2014/main" id="{41713A15-5248-4A87-A157-CC024529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033"/>
                </a:solidFill>
              </a:defRPr>
            </a:pPr>
            <a:r>
              <a:rPr sz="1575" b="1">
                <a:solidFill>
                  <a:srgbClr val="132033"/>
                </a:solidFill>
              </a:rPr>
              <a:t>JSON parse</a:t>
            </a:r>
          </a:p>
        </p:txBody>
      </p:sp>
      <p:sp>
        <p:nvSpPr>
          <p:cNvPr id="12" name="check-body-0">
            <a:extLst xmlns:a="http://schemas.openxmlformats.org/drawingml/2006/main">
              <a:ext uri="{FF2B5EF4-FFF2-40B4-BE49-F238E27FC236}">
                <a16:creationId xmlns:a16="http://schemas.microsoft.com/office/drawing/2014/main" id="{CC6A2FBA-A9D5-49F1-A7B3-487493EB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28900"/>
            <a:ext cx="327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36174"/>
                </a:solidFill>
              </a:defRPr>
            </a:pPr>
            <a:r>
              <a:rPr sz="1163">
                <a:solidFill>
                  <a:srgbClr val="536174"/>
                </a:solidFill>
              </a:rPr>
              <a:t>If the model wraps the object in text, we recover the object and parse it.</a:t>
            </a:r>
          </a:p>
        </p:txBody>
      </p:sp>
      <p:sp>
        <p:nvSpPr>
          <p:cNvPr id="13" name="check-dot-1">
            <a:extLst xmlns:a="http://schemas.openxmlformats.org/drawingml/2006/main">
              <a:ext uri="{FF2B5EF4-FFF2-40B4-BE49-F238E27FC236}">
                <a16:creationId xmlns:a16="http://schemas.microsoft.com/office/drawing/2014/main" id="{46BC25A8-DBA4-4C44-99A4-155C4F9C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57D8"/>
          </a:solidFill>
          <a:ln xmlns:a="http://schemas.openxmlformats.org/drawingml/2006/main" w="38100">
            <a:solidFill>
              <a:srgbClr val="6957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heck-label-1">
            <a:extLst xmlns:a="http://schemas.openxmlformats.org/drawingml/2006/main">
              <a:ext uri="{FF2B5EF4-FFF2-40B4-BE49-F238E27FC236}">
                <a16:creationId xmlns:a16="http://schemas.microsoft.com/office/drawing/2014/main" id="{46F7E66B-BEEA-4FE5-A68D-DCECA21F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033"/>
                </a:solidFill>
              </a:defRPr>
            </a:pPr>
            <a:r>
              <a:rPr sz="1575" b="1">
                <a:solidFill>
                  <a:srgbClr val="132033"/>
                </a:solidFill>
              </a:rPr>
              <a:t>Known IDs only</a:t>
            </a:r>
          </a:p>
        </p:txBody>
      </p:sp>
      <p:sp>
        <p:nvSpPr>
          <p:cNvPr id="15" name="check-body-1">
            <a:extLst xmlns:a="http://schemas.openxmlformats.org/drawingml/2006/main">
              <a:ext uri="{FF2B5EF4-FFF2-40B4-BE49-F238E27FC236}">
                <a16:creationId xmlns:a16="http://schemas.microsoft.com/office/drawing/2014/main" id="{EFC84083-3BFE-495F-BAA1-95CA2D07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90900"/>
            <a:ext cx="327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36174"/>
                </a:solidFill>
              </a:defRPr>
            </a:pPr>
            <a:r>
              <a:rPr sz="1163">
                <a:solidFill>
                  <a:srgbClr val="536174"/>
                </a:solidFill>
              </a:rPr>
              <a:t>A recommended section is shown only if its ID exists in the app navigation.</a:t>
            </a:r>
          </a:p>
        </p:txBody>
      </p:sp>
      <p:sp>
        <p:nvSpPr>
          <p:cNvPr id="16" name="check-dot-2">
            <a:extLst xmlns:a="http://schemas.openxmlformats.org/drawingml/2006/main">
              <a:ext uri="{FF2B5EF4-FFF2-40B4-BE49-F238E27FC236}">
                <a16:creationId xmlns:a16="http://schemas.microsoft.com/office/drawing/2014/main" id="{DCD6A2F9-79B7-43F9-81D1-C1D7D747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33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B16"/>
          </a:solidFill>
          <a:ln xmlns:a="http://schemas.openxmlformats.org/drawingml/2006/main" w="38100">
            <a:solidFill>
              <a:srgbClr val="D59B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check-label-2">
            <a:extLst xmlns:a="http://schemas.openxmlformats.org/drawingml/2006/main">
              <a:ext uri="{FF2B5EF4-FFF2-40B4-BE49-F238E27FC236}">
                <a16:creationId xmlns:a16="http://schemas.microsoft.com/office/drawing/2014/main" id="{1477EB59-923D-4788-9EAB-20401465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67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033"/>
                </a:solidFill>
              </a:defRPr>
            </a:pPr>
            <a:r>
              <a:rPr sz="1575" b="1">
                <a:solidFill>
                  <a:srgbClr val="132033"/>
                </a:solidFill>
              </a:rPr>
              <a:t>Category cleanup</a:t>
            </a:r>
          </a:p>
        </p:txBody>
      </p:sp>
      <p:sp>
        <p:nvSpPr>
          <p:cNvPr id="18" name="check-body-2">
            <a:extLst xmlns:a="http://schemas.openxmlformats.org/drawingml/2006/main">
              <a:ext uri="{FF2B5EF4-FFF2-40B4-BE49-F238E27FC236}">
                <a16:creationId xmlns:a16="http://schemas.microsoft.com/office/drawing/2014/main" id="{2DEFB115-FB7E-4600-9090-56391057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52900"/>
            <a:ext cx="327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36174"/>
                </a:solidFill>
              </a:defRPr>
            </a:pPr>
            <a:r>
              <a:rPr sz="1163">
                <a:solidFill>
                  <a:srgbClr val="536174"/>
                </a:solidFill>
              </a:rPr>
              <a:t>Roadmap entries fall back to safe categories instead of breaking the timeline.</a:t>
            </a:r>
          </a:p>
        </p:txBody>
      </p:sp>
      <p:sp>
        <p:nvSpPr>
          <p:cNvPr id="19" name="check-dot-3">
            <a:extLst xmlns:a="http://schemas.openxmlformats.org/drawingml/2006/main">
              <a:ext uri="{FF2B5EF4-FFF2-40B4-BE49-F238E27FC236}">
                <a16:creationId xmlns:a16="http://schemas.microsoft.com/office/drawing/2014/main" id="{6A2C64B5-68C7-4A4A-BA86-ABD6720F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95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38100">
            <a:solidFill>
              <a:srgbClr val="E76F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check-label-3">
            <a:extLst xmlns:a="http://schemas.openxmlformats.org/drawingml/2006/main">
              <a:ext uri="{FF2B5EF4-FFF2-40B4-BE49-F238E27FC236}">
                <a16:creationId xmlns:a16="http://schemas.microsoft.com/office/drawing/2014/main" id="{73F0FC34-47C8-4512-B8BB-2493A3FE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29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033"/>
                </a:solidFill>
              </a:defRPr>
            </a:pPr>
            <a:r>
              <a:rPr sz="1575" b="1">
                <a:solidFill>
                  <a:srgbClr val="132033"/>
                </a:solidFill>
              </a:rPr>
              <a:t>Readable failures</a:t>
            </a:r>
          </a:p>
        </p:txBody>
      </p:sp>
      <p:sp>
        <p:nvSpPr>
          <p:cNvPr id="21" name="check-body-3">
            <a:extLst xmlns:a="http://schemas.openxmlformats.org/drawingml/2006/main">
              <a:ext uri="{FF2B5EF4-FFF2-40B4-BE49-F238E27FC236}">
                <a16:creationId xmlns:a16="http://schemas.microsoft.com/office/drawing/2014/main" id="{95DCBE1F-6934-4052-9624-ACAE10AF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27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36174"/>
                </a:solidFill>
              </a:defRPr>
            </a:pPr>
            <a:r>
              <a:rPr sz="1163">
                <a:solidFill>
                  <a:srgbClr val="536174"/>
                </a:solidFill>
              </a:rPr>
              <a:t>Missing keys, bad responses, or no API key become user-facing error states.</a:t>
            </a:r>
          </a:p>
        </p:txBody>
      </p:sp>
      <p:sp>
        <p:nvSpPr>
          <p:cNvPr id="22" name="handoff-line">
            <a:extLst xmlns:a="http://schemas.openxmlformats.org/drawingml/2006/main">
              <a:ext uri="{FF2B5EF4-FFF2-40B4-BE49-F238E27FC236}">
                <a16:creationId xmlns:a16="http://schemas.microsoft.com/office/drawing/2014/main" id="{DED2C4EF-A88A-4742-B958-FB8CA791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37719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C3D1"/>
            </a:solidFill>
            <a:prstDash val="solid"/>
          </a:ln>
        </p:spPr>
      </p:sp>
      <p:sp>
        <p:nvSpPr>
          <p:cNvPr id="23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D3A65FF3-35AD-4EE0-A20E-627E9A67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7150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4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E74625C7-5CD1-4FFE-9E80-1406CD9B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0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B8C3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56582649-3AC0-4377-8607-D961878B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60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B8C3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A63D35BB-E069-44A5-B975-B4BEFEDF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60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A59"/>
          </a:solidFill>
          <a:ln xmlns:a="http://schemas.openxmlformats.org/drawingml/2006/main" w="38100">
            <a:solidFill>
              <a:srgbClr val="1B9A5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4F5BFCCA-DF74-4E5F-8C25-9A856A6E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60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B8C3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C2BBC0A8-D1BD-4842-9B4C-6CAB54DB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0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B8C3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timeline-caption">
            <a:extLst xmlns:a="http://schemas.openxmlformats.org/drawingml/2006/main">
              <a:ext uri="{FF2B5EF4-FFF2-40B4-BE49-F238E27FC236}">
                <a16:creationId xmlns:a16="http://schemas.microsoft.com/office/drawing/2014/main" id="{6606E794-5446-4366-A29A-367F7D67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9817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033"/>
                </a:solidFill>
              </a:defRPr>
            </a:pPr>
            <a:r>
              <a:rPr sz="1500" b="1">
                <a:solidFill>
                  <a:srgbClr val="132033"/>
                </a:solidFill>
              </a:rPr>
              <a:t>After validation, the result is saved to localStorage and rendered as the student's timeline.</a:t>
            </a:r>
          </a:p>
        </p:txBody>
      </p:sp>
      <p:sp>
        <p:nvSpPr>
          <p:cNvPr id="30" name="footer-3">
            <a:extLst xmlns:a="http://schemas.openxmlformats.org/drawingml/2006/main">
              <a:ext uri="{FF2B5EF4-FFF2-40B4-BE49-F238E27FC236}">
                <a16:creationId xmlns:a16="http://schemas.microsoft.com/office/drawing/2014/main" id="{7AC4E97A-C4F0-4D8A-A4C8-AC7CEA4F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B98AA"/>
                </a:solidFill>
              </a:defRPr>
            </a:pPr>
            <a:r>
              <a:rPr sz="900">
                <a:solidFill>
                  <a:srgbClr val="8B98AA"/>
                </a:solidFill>
              </a:rPr>
              <a:t>Dream College LLM integration / 3</a:t>
            </a:r>
          </a:p>
        </p:txBody>
      </p:sp>
    </p:spTree>
    <p:extLst>
      <p:ext uri="{BB962C8B-B14F-4D97-AF65-F5344CB8AC3E}">
        <p14:creationId xmlns:p14="http://schemas.microsoft.com/office/powerpoint/2010/main" val="1787400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2026-07-07T00:54:08.7230000Z</dcterms:created>
  <dcterms:modified xsi:type="dcterms:W3CDTF">2026-07-07T00:54:08.7230000Z</dcterms:modified>
</coreProperties>
</file>